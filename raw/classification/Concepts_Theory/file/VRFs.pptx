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16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21E6-847F-401D-9BCA-759BD5948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23F03-CA09-443D-8915-A84942550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1AC2-F4E8-4CFB-9910-9B6DD747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B0456-6357-496E-96BF-FB8865C8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D225-AC8E-43CE-979D-C95EC5AF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6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5A94-F3ED-4FA2-8047-DF5362D3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B58A-3E93-42DB-87AB-5210D3BF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5184-8BD0-484E-ACD9-821C1C4B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8622-6DC4-46E8-9B3A-9E839DC3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593AA-305E-4E80-9B31-E3C1886F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5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C37A-D3F8-4914-88E3-46604FDE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1FC5B-C368-4B55-87F0-DD0DACDC4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58ED9-11A4-4FF3-A17D-98EA5565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A60D-9B1D-47CE-AA6F-0269A35F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C0DA-A367-47DA-AF95-9D3A4B18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5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340F-1D71-48B4-8D0F-5673EB41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5994B-0AF1-4F4F-8D2D-072AD5406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AB864-70E8-40C1-A492-85D998CF0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A9DF6-FA90-4D27-AA97-0DF19E3A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CAE9E-D2D2-47F2-84BB-7FC77079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9CA4C-2582-4526-B2FA-18007842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1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E7CD-F9A8-48C0-B73E-0CAC696F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16D32-CC84-4A43-B1C2-82FF9BEF2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75FE5-0FB7-4D38-928A-0B861C2F4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A9E9E-DB83-4773-B7ED-E5BCEF422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5415F-403E-401C-9647-B7248E117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8AD5D-1D83-4109-8F9D-FC25F69C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AEFB5-C701-4649-8258-C88FD943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CA87-C916-4A8E-994A-D89A8CBE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0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2FA0-500C-407F-8DE9-82801D99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282EE-FD05-4251-9B03-5D53E5EF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FBFD-3CDC-4F73-A1BD-6CC925F3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99FC0-8AFD-4123-869E-0DFC1D07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8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989F5-61D5-4FB1-8BD3-DCF9EE89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3633C-A7E8-4F78-B27F-5672B084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A593E-5AC3-4E52-B8B2-2BF81321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4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D436-D172-4F2D-8DD5-F785B0EE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F464-FE4B-4BA6-900C-0AA664C2A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15BA3-36F1-4F6D-8149-E5DB384A3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C362-5E60-4451-A1EE-40A1B75F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FB8A4-2DFF-4D61-A8BF-FF1B5308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8433C-8A59-4097-AD6F-24CD9088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5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5BC3-AC2A-4532-8F2F-B914BC9A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65FE8-A270-415A-95AD-60332DD62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A5E2A-4381-4665-9F3F-914A2A2D0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01599-172F-4D6C-AAFF-C93701A1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6A351-724F-43A8-A884-08080F0C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3BB39-406C-402A-8F0A-B64C01D5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0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63BF-2B89-4AD5-98E3-5E05CE5D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CCDF3-8A67-4246-A8FF-C539CC937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1785B-C378-4374-8D44-0F23D81D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11B1-21D2-4CA6-81CC-FAD1CFE9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94BEA-C8E2-42C4-94E8-66DE1CD5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6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6235D-0D46-426C-B1B1-0943146EE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1478B-6116-49F1-857A-21CA153F2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6E4D8-C369-43D1-9FF8-8E8EB3F5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B725C-C2E4-41F0-B501-7E61A79C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8D2BD-E552-4FF7-A205-9471D429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1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6724B-2F76-481F-A6CA-E4E97110D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BE983-49FD-4A3C-BFBA-1FDF79808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2B4B-5AE3-401A-A3DA-65EDA7EAC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9A103-AB3B-47F4-8777-FE4EB07FE08E}" type="datetimeFigureOut">
              <a:rPr lang="en-US" smtClean="0"/>
              <a:t>11/18/2019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ABD09-6F55-4C97-A584-26F50437D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09F62-68E0-4ACB-A50A-9EA0EA19A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3D8E5-543C-4029-A063-27C3F43004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817091896,&quot;Placement&quot;:&quot;Footer&quot;}">
            <a:extLst>
              <a:ext uri="{FF2B5EF4-FFF2-40B4-BE49-F238E27FC236}">
                <a16:creationId xmlns:a16="http://schemas.microsoft.com/office/drawing/2014/main" id="{75592D67-0418-4C37-996C-5ECB1A7D422C}"/>
              </a:ext>
            </a:extLst>
          </p:cNvPr>
          <p:cNvSpPr txBox="1"/>
          <p:nvPr userDrawn="1"/>
        </p:nvSpPr>
        <p:spPr>
          <a:xfrm>
            <a:off x="5508292" y="6646927"/>
            <a:ext cx="1175415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Juniper 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319246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80FA-7BC8-4F0A-BC39-F6DDE0AEE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55073-E8B1-407B-9991-E800CD62B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9A67C-CEFE-4D36-BA70-06425844F0A7}"/>
              </a:ext>
            </a:extLst>
          </p:cNvPr>
          <p:cNvSpPr/>
          <p:nvPr/>
        </p:nvSpPr>
        <p:spPr>
          <a:xfrm>
            <a:off x="1595082" y="636814"/>
            <a:ext cx="3020786" cy="558437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B2960C-5AE3-4DE7-AAA3-1048C55C299D}"/>
              </a:ext>
            </a:extLst>
          </p:cNvPr>
          <p:cNvSpPr/>
          <p:nvPr/>
        </p:nvSpPr>
        <p:spPr>
          <a:xfrm>
            <a:off x="215569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AF061-2A20-4709-8CD1-F28D59A897BB}"/>
              </a:ext>
            </a:extLst>
          </p:cNvPr>
          <p:cNvSpPr/>
          <p:nvPr/>
        </p:nvSpPr>
        <p:spPr>
          <a:xfrm>
            <a:off x="216385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VRF.inet.0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3273F-D389-4950-9685-BE3A745AB81B}"/>
              </a:ext>
            </a:extLst>
          </p:cNvPr>
          <p:cNvSpPr/>
          <p:nvPr/>
        </p:nvSpPr>
        <p:spPr>
          <a:xfrm>
            <a:off x="-1477308" y="42535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C890E-773C-4E47-823E-A5E5C78BAF71}"/>
              </a:ext>
            </a:extLst>
          </p:cNvPr>
          <p:cNvSpPr/>
          <p:nvPr/>
        </p:nvSpPr>
        <p:spPr>
          <a:xfrm>
            <a:off x="-1477307" y="152400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6D25B-DB7E-4991-B981-47122894E803}"/>
              </a:ext>
            </a:extLst>
          </p:cNvPr>
          <p:cNvSpPr/>
          <p:nvPr/>
        </p:nvSpPr>
        <p:spPr>
          <a:xfrm>
            <a:off x="7473370" y="636815"/>
            <a:ext cx="3020786" cy="558437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FC3E6-8AD6-42F7-99E7-23174219B128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-592948" y="2329544"/>
            <a:ext cx="27486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4C7F79-6BFE-4FE1-B156-D20BED69DB4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-592949" y="5059136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013861-9777-4362-866A-FF135DA970ED}"/>
              </a:ext>
            </a:extLst>
          </p:cNvPr>
          <p:cNvSpPr/>
          <p:nvPr/>
        </p:nvSpPr>
        <p:spPr>
          <a:xfrm>
            <a:off x="4782498" y="826039"/>
            <a:ext cx="2516376" cy="37269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CBE345-F7BA-485D-B3CC-13975C53B4EE}"/>
              </a:ext>
            </a:extLst>
          </p:cNvPr>
          <p:cNvSpPr/>
          <p:nvPr/>
        </p:nvSpPr>
        <p:spPr>
          <a:xfrm>
            <a:off x="-530354" y="468467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60E442-9E73-4961-843C-C9106C41C01E}"/>
              </a:ext>
            </a:extLst>
          </p:cNvPr>
          <p:cNvSpPr/>
          <p:nvPr/>
        </p:nvSpPr>
        <p:spPr>
          <a:xfrm>
            <a:off x="-527797" y="1889034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35B6DF-0CC1-4A3F-8C36-4A5A7F7337E3}"/>
              </a:ext>
            </a:extLst>
          </p:cNvPr>
          <p:cNvSpPr/>
          <p:nvPr/>
        </p:nvSpPr>
        <p:spPr>
          <a:xfrm>
            <a:off x="4780393" y="1889035"/>
            <a:ext cx="2507758" cy="372686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C3F28-9CE2-46D7-A751-54D7DD6A57CF}"/>
              </a:ext>
            </a:extLst>
          </p:cNvPr>
          <p:cNvSpPr txBox="1"/>
          <p:nvPr/>
        </p:nvSpPr>
        <p:spPr>
          <a:xfrm>
            <a:off x="5241140" y="403486"/>
            <a:ext cx="1310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  <a:latin typeface="Arial Nova" panose="020B0504020202020204" pitchFamily="34" charset="0"/>
              </a:rPr>
              <a:t>family </a:t>
            </a:r>
            <a:r>
              <a:rPr lang="en-US" b="1" dirty="0" err="1">
                <a:solidFill>
                  <a:srgbClr val="000099"/>
                </a:solidFill>
                <a:latin typeface="Arial Nova" panose="020B0504020202020204" pitchFamily="34" charset="0"/>
              </a:rPr>
              <a:t>inet</a:t>
            </a:r>
            <a:endParaRPr lang="en-US" b="1" dirty="0">
              <a:solidFill>
                <a:srgbClr val="000099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DB03C-CD48-49FE-89A9-B9A4837333CD}"/>
              </a:ext>
            </a:extLst>
          </p:cNvPr>
          <p:cNvSpPr txBox="1"/>
          <p:nvPr/>
        </p:nvSpPr>
        <p:spPr>
          <a:xfrm>
            <a:off x="4965420" y="1223773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Nova" panose="020B0504020202020204" pitchFamily="34" charset="0"/>
              </a:rPr>
              <a:t>family l3vpn </a:t>
            </a:r>
          </a:p>
          <a:p>
            <a:r>
              <a:rPr lang="en-US" b="1" dirty="0">
                <a:solidFill>
                  <a:srgbClr val="FF0000"/>
                </a:solidFill>
                <a:latin typeface="Arial Nova" panose="020B0504020202020204" pitchFamily="34" charset="0"/>
              </a:rPr>
              <a:t>RT = X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3F54F7-F031-442A-8C33-DC8185C136EC}"/>
              </a:ext>
            </a:extLst>
          </p:cNvPr>
          <p:cNvCxnSpPr/>
          <p:nvPr/>
        </p:nvCxnSpPr>
        <p:spPr>
          <a:xfrm flipH="1">
            <a:off x="3461982" y="2329543"/>
            <a:ext cx="1153886" cy="2214918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C58907-169D-4A7D-A1B2-0ACD3B92865B}"/>
              </a:ext>
            </a:extLst>
          </p:cNvPr>
          <p:cNvCxnSpPr/>
          <p:nvPr/>
        </p:nvCxnSpPr>
        <p:spPr>
          <a:xfrm flipH="1">
            <a:off x="3551342" y="1223773"/>
            <a:ext cx="1136441" cy="665261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C9686C-1792-41F7-9FED-C36E33A6482D}"/>
              </a:ext>
            </a:extLst>
          </p:cNvPr>
          <p:cNvCxnSpPr>
            <a:cxnSpLocks/>
          </p:cNvCxnSpPr>
          <p:nvPr/>
        </p:nvCxnSpPr>
        <p:spPr>
          <a:xfrm flipH="1">
            <a:off x="1493604" y="2079597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A066B-3B13-4791-BD31-BB513C4560A4}"/>
              </a:ext>
            </a:extLst>
          </p:cNvPr>
          <p:cNvCxnSpPr>
            <a:cxnSpLocks/>
          </p:cNvCxnSpPr>
          <p:nvPr/>
        </p:nvCxnSpPr>
        <p:spPr>
          <a:xfrm flipH="1">
            <a:off x="1490477" y="487523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9F79F6-7B68-405E-8AE2-BC9066E252E4}"/>
              </a:ext>
            </a:extLst>
          </p:cNvPr>
          <p:cNvSpPr txBox="1"/>
          <p:nvPr/>
        </p:nvSpPr>
        <p:spPr>
          <a:xfrm>
            <a:off x="4230293" y="3373862"/>
            <a:ext cx="2768322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Imported based on</a:t>
            </a:r>
          </a:p>
          <a:p>
            <a:r>
              <a:rPr lang="en-US" dirty="0"/>
              <a:t>matching route target.</a:t>
            </a:r>
          </a:p>
          <a:p>
            <a:r>
              <a:rPr lang="en-US" dirty="0"/>
              <a:t>Routes sent with RD and RT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90F8F1-C5E7-4772-9460-8887653BF692}"/>
              </a:ext>
            </a:extLst>
          </p:cNvPr>
          <p:cNvSpPr/>
          <p:nvPr/>
        </p:nvSpPr>
        <p:spPr>
          <a:xfrm>
            <a:off x="804074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B30828-C791-401A-9E3E-1C5C97D16A97}"/>
              </a:ext>
            </a:extLst>
          </p:cNvPr>
          <p:cNvSpPr/>
          <p:nvPr/>
        </p:nvSpPr>
        <p:spPr>
          <a:xfrm>
            <a:off x="804890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VRF.inet.0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FA200A-F787-4803-8577-8CBC7F98CBB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015911" y="2329544"/>
            <a:ext cx="40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125CA2-AE02-487E-A81F-D0AC312A1A65}"/>
              </a:ext>
            </a:extLst>
          </p:cNvPr>
          <p:cNvCxnSpPr>
            <a:cxnSpLocks/>
          </p:cNvCxnSpPr>
          <p:nvPr/>
        </p:nvCxnSpPr>
        <p:spPr>
          <a:xfrm>
            <a:off x="7300810" y="2352900"/>
            <a:ext cx="1153886" cy="2214918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B4F64A-6BE8-41E9-9598-9A44782185BF}"/>
              </a:ext>
            </a:extLst>
          </p:cNvPr>
          <p:cNvCxnSpPr>
            <a:cxnSpLocks/>
          </p:cNvCxnSpPr>
          <p:nvPr/>
        </p:nvCxnSpPr>
        <p:spPr>
          <a:xfrm>
            <a:off x="7322476" y="1253819"/>
            <a:ext cx="1136441" cy="665261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B33925-CCE9-49CD-BE8F-9377AB29FACD}"/>
              </a:ext>
            </a:extLst>
          </p:cNvPr>
          <p:cNvSpPr/>
          <p:nvPr/>
        </p:nvSpPr>
        <p:spPr>
          <a:xfrm>
            <a:off x="12665932" y="4260985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7B033-F990-449E-9A11-B950505B4CF1}"/>
              </a:ext>
            </a:extLst>
          </p:cNvPr>
          <p:cNvSpPr/>
          <p:nvPr/>
        </p:nvSpPr>
        <p:spPr>
          <a:xfrm>
            <a:off x="12665933" y="15313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9B3D7A-2C6A-496A-9502-AB25D02E7B47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9900961" y="2329544"/>
            <a:ext cx="2764972" cy="7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55240E-F008-4395-8EAA-7D1707E36076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9909126" y="5059137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B054615-F599-4C09-B0A2-3B5EA5BFEB95}"/>
              </a:ext>
            </a:extLst>
          </p:cNvPr>
          <p:cNvSpPr/>
          <p:nvPr/>
        </p:nvSpPr>
        <p:spPr>
          <a:xfrm>
            <a:off x="10557592" y="4660367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CAC47A9-8DC1-4375-BB95-1B7B73262FA1}"/>
              </a:ext>
            </a:extLst>
          </p:cNvPr>
          <p:cNvSpPr/>
          <p:nvPr/>
        </p:nvSpPr>
        <p:spPr>
          <a:xfrm>
            <a:off x="10560149" y="1864726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4A9B8A-31C7-4EE9-A9D2-C52E6A31741C}"/>
              </a:ext>
            </a:extLst>
          </p:cNvPr>
          <p:cNvCxnSpPr>
            <a:cxnSpLocks/>
          </p:cNvCxnSpPr>
          <p:nvPr/>
        </p:nvCxnSpPr>
        <p:spPr>
          <a:xfrm flipH="1">
            <a:off x="9358139" y="2084859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80595B-7E75-4FDB-9C75-156AA5B6B162}"/>
              </a:ext>
            </a:extLst>
          </p:cNvPr>
          <p:cNvCxnSpPr>
            <a:cxnSpLocks/>
          </p:cNvCxnSpPr>
          <p:nvPr/>
        </p:nvCxnSpPr>
        <p:spPr>
          <a:xfrm flipH="1">
            <a:off x="9355012" y="4880500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099997E-48C2-4135-A85A-426492A3844B}"/>
              </a:ext>
            </a:extLst>
          </p:cNvPr>
          <p:cNvSpPr/>
          <p:nvPr/>
        </p:nvSpPr>
        <p:spPr>
          <a:xfrm>
            <a:off x="-1477308" y="-461959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3F4766-4FA6-45E1-ACA3-C7F5B31799B7}"/>
              </a:ext>
            </a:extLst>
          </p:cNvPr>
          <p:cNvCxnSpPr>
            <a:stCxn id="36" idx="3"/>
          </p:cNvCxnSpPr>
          <p:nvPr/>
        </p:nvCxnSpPr>
        <p:spPr>
          <a:xfrm>
            <a:off x="-592949" y="343584"/>
            <a:ext cx="2748643" cy="15211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811E315-EADC-460F-ABDB-35E769742660}"/>
              </a:ext>
            </a:extLst>
          </p:cNvPr>
          <p:cNvSpPr/>
          <p:nvPr/>
        </p:nvSpPr>
        <p:spPr>
          <a:xfrm rot="1483886">
            <a:off x="-400233" y="563973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B27E18-8F7D-4C4D-9E37-24CCC8FAE97A}"/>
              </a:ext>
            </a:extLst>
          </p:cNvPr>
          <p:cNvCxnSpPr>
            <a:cxnSpLocks/>
          </p:cNvCxnSpPr>
          <p:nvPr/>
        </p:nvCxnSpPr>
        <p:spPr>
          <a:xfrm flipH="1" flipV="1">
            <a:off x="1490477" y="1223773"/>
            <a:ext cx="1108228" cy="640953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5334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CF4B3-B11D-4EC1-8144-3629F2C00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5295"/>
            <a:ext cx="12192000" cy="4727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3593A-E288-4B04-BD54-5F78C00CBC99}"/>
              </a:ext>
            </a:extLst>
          </p:cNvPr>
          <p:cNvSpPr txBox="1"/>
          <p:nvPr/>
        </p:nvSpPr>
        <p:spPr>
          <a:xfrm flipH="1">
            <a:off x="10202973" y="5423373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479CA-F806-4F29-AD3A-DE240F228F62}"/>
              </a:ext>
            </a:extLst>
          </p:cNvPr>
          <p:cNvSpPr txBox="1"/>
          <p:nvPr/>
        </p:nvSpPr>
        <p:spPr>
          <a:xfrm flipH="1">
            <a:off x="1166065" y="5423373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5E9F6-164B-43D6-896D-8BAAB1B1FCE8}"/>
              </a:ext>
            </a:extLst>
          </p:cNvPr>
          <p:cNvSpPr txBox="1"/>
          <p:nvPr/>
        </p:nvSpPr>
        <p:spPr>
          <a:xfrm flipH="1">
            <a:off x="5764427" y="5423373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IBGP</a:t>
            </a:r>
          </a:p>
        </p:txBody>
      </p:sp>
    </p:spTree>
    <p:extLst>
      <p:ext uri="{BB962C8B-B14F-4D97-AF65-F5344CB8AC3E}">
        <p14:creationId xmlns:p14="http://schemas.microsoft.com/office/powerpoint/2010/main" val="300636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F9A67C-CEFE-4D36-BA70-06425844F0A7}"/>
              </a:ext>
            </a:extLst>
          </p:cNvPr>
          <p:cNvSpPr/>
          <p:nvPr/>
        </p:nvSpPr>
        <p:spPr>
          <a:xfrm>
            <a:off x="1595082" y="636814"/>
            <a:ext cx="3020786" cy="82920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B2960C-5AE3-4DE7-AAA3-1048C55C299D}"/>
              </a:ext>
            </a:extLst>
          </p:cNvPr>
          <p:cNvSpPr/>
          <p:nvPr/>
        </p:nvSpPr>
        <p:spPr>
          <a:xfrm>
            <a:off x="215569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AF061-2A20-4709-8CD1-F28D59A897BB}"/>
              </a:ext>
            </a:extLst>
          </p:cNvPr>
          <p:cNvSpPr/>
          <p:nvPr/>
        </p:nvSpPr>
        <p:spPr>
          <a:xfrm>
            <a:off x="216385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VRF1.inet.0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3273F-D389-4950-9685-BE3A745AB81B}"/>
              </a:ext>
            </a:extLst>
          </p:cNvPr>
          <p:cNvSpPr/>
          <p:nvPr/>
        </p:nvSpPr>
        <p:spPr>
          <a:xfrm>
            <a:off x="-1477308" y="42535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C890E-773C-4E47-823E-A5E5C78BAF71}"/>
              </a:ext>
            </a:extLst>
          </p:cNvPr>
          <p:cNvSpPr/>
          <p:nvPr/>
        </p:nvSpPr>
        <p:spPr>
          <a:xfrm>
            <a:off x="-1477307" y="152400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6D25B-DB7E-4991-B981-47122894E803}"/>
              </a:ext>
            </a:extLst>
          </p:cNvPr>
          <p:cNvSpPr/>
          <p:nvPr/>
        </p:nvSpPr>
        <p:spPr>
          <a:xfrm>
            <a:off x="7473370" y="636814"/>
            <a:ext cx="3020786" cy="8292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FC3E6-8AD6-42F7-99E7-23174219B128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-592948" y="2329544"/>
            <a:ext cx="27486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4C7F79-6BFE-4FE1-B156-D20BED69DB4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-592949" y="5059136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013861-9777-4362-866A-FF135DA970ED}"/>
              </a:ext>
            </a:extLst>
          </p:cNvPr>
          <p:cNvSpPr/>
          <p:nvPr/>
        </p:nvSpPr>
        <p:spPr>
          <a:xfrm>
            <a:off x="4782498" y="537181"/>
            <a:ext cx="2516376" cy="37269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CBE345-F7BA-485D-B3CC-13975C53B4EE}"/>
              </a:ext>
            </a:extLst>
          </p:cNvPr>
          <p:cNvSpPr/>
          <p:nvPr/>
        </p:nvSpPr>
        <p:spPr>
          <a:xfrm>
            <a:off x="-530354" y="468467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60E442-9E73-4961-843C-C9106C41C01E}"/>
              </a:ext>
            </a:extLst>
          </p:cNvPr>
          <p:cNvSpPr/>
          <p:nvPr/>
        </p:nvSpPr>
        <p:spPr>
          <a:xfrm>
            <a:off x="-527797" y="1889034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35B6DF-0CC1-4A3F-8C36-4A5A7F7337E3}"/>
              </a:ext>
            </a:extLst>
          </p:cNvPr>
          <p:cNvSpPr/>
          <p:nvPr/>
        </p:nvSpPr>
        <p:spPr>
          <a:xfrm>
            <a:off x="4780393" y="1207478"/>
            <a:ext cx="2507758" cy="372686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C3F28-9CE2-46D7-A751-54D7DD6A57CF}"/>
              </a:ext>
            </a:extLst>
          </p:cNvPr>
          <p:cNvSpPr txBox="1"/>
          <p:nvPr/>
        </p:nvSpPr>
        <p:spPr>
          <a:xfrm>
            <a:off x="5241140" y="114628"/>
            <a:ext cx="1187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99"/>
                </a:solidFill>
                <a:latin typeface="Arial Nova" panose="020B0504020202020204" pitchFamily="34" charset="0"/>
              </a:rPr>
              <a:t>family </a:t>
            </a:r>
            <a:r>
              <a:rPr lang="en-US" sz="1600" b="1" dirty="0" err="1">
                <a:solidFill>
                  <a:srgbClr val="000099"/>
                </a:solidFill>
                <a:latin typeface="Arial Nova" panose="020B0504020202020204" pitchFamily="34" charset="0"/>
              </a:rPr>
              <a:t>inet</a:t>
            </a:r>
            <a:endParaRPr lang="en-US" sz="1600" b="1" dirty="0">
              <a:solidFill>
                <a:srgbClr val="000099"/>
              </a:solidFill>
              <a:latin typeface="Arial Nova" panose="020B05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DB03C-CD48-49FE-89A9-B9A4837333CD}"/>
              </a:ext>
            </a:extLst>
          </p:cNvPr>
          <p:cNvSpPr txBox="1"/>
          <p:nvPr/>
        </p:nvSpPr>
        <p:spPr>
          <a:xfrm>
            <a:off x="4899965" y="823414"/>
            <a:ext cx="2479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 Nova" panose="020B0504020202020204" pitchFamily="34" charset="0"/>
              </a:rPr>
              <a:t>family l3vpn RD1 RT1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3F54F7-F031-442A-8C33-DC8185C136EC}"/>
              </a:ext>
            </a:extLst>
          </p:cNvPr>
          <p:cNvCxnSpPr>
            <a:cxnSpLocks/>
          </p:cNvCxnSpPr>
          <p:nvPr/>
        </p:nvCxnSpPr>
        <p:spPr>
          <a:xfrm flipH="1">
            <a:off x="3461982" y="1579567"/>
            <a:ext cx="1237200" cy="2964894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C58907-169D-4A7D-A1B2-0ACD3B92865B}"/>
              </a:ext>
            </a:extLst>
          </p:cNvPr>
          <p:cNvCxnSpPr>
            <a:cxnSpLocks/>
          </p:cNvCxnSpPr>
          <p:nvPr/>
        </p:nvCxnSpPr>
        <p:spPr>
          <a:xfrm flipH="1">
            <a:off x="3551343" y="927926"/>
            <a:ext cx="1158460" cy="961108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C9686C-1792-41F7-9FED-C36E33A6482D}"/>
              </a:ext>
            </a:extLst>
          </p:cNvPr>
          <p:cNvCxnSpPr>
            <a:cxnSpLocks/>
          </p:cNvCxnSpPr>
          <p:nvPr/>
        </p:nvCxnSpPr>
        <p:spPr>
          <a:xfrm flipH="1">
            <a:off x="1493604" y="2079597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A066B-3B13-4791-BD31-BB513C4560A4}"/>
              </a:ext>
            </a:extLst>
          </p:cNvPr>
          <p:cNvCxnSpPr>
            <a:cxnSpLocks/>
          </p:cNvCxnSpPr>
          <p:nvPr/>
        </p:nvCxnSpPr>
        <p:spPr>
          <a:xfrm flipH="1">
            <a:off x="1490477" y="487523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9F79F6-7B68-405E-8AE2-BC9066E252E4}"/>
              </a:ext>
            </a:extLst>
          </p:cNvPr>
          <p:cNvSpPr txBox="1"/>
          <p:nvPr/>
        </p:nvSpPr>
        <p:spPr>
          <a:xfrm>
            <a:off x="672081" y="3218882"/>
            <a:ext cx="2768322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Imported based on</a:t>
            </a:r>
          </a:p>
          <a:p>
            <a:r>
              <a:rPr lang="en-US" dirty="0"/>
              <a:t>matching route target.</a:t>
            </a:r>
          </a:p>
          <a:p>
            <a:r>
              <a:rPr lang="en-US" dirty="0"/>
              <a:t>Routes sent with RD and RT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90F8F1-C5E7-4772-9460-8887653BF692}"/>
              </a:ext>
            </a:extLst>
          </p:cNvPr>
          <p:cNvSpPr/>
          <p:nvPr/>
        </p:nvSpPr>
        <p:spPr>
          <a:xfrm>
            <a:off x="804074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B30828-C791-401A-9E3E-1C5C97D16A97}"/>
              </a:ext>
            </a:extLst>
          </p:cNvPr>
          <p:cNvSpPr/>
          <p:nvPr/>
        </p:nvSpPr>
        <p:spPr>
          <a:xfrm>
            <a:off x="804890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VRF1.inet.0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FA200A-F787-4803-8577-8CBC7F98CBB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015911" y="2329544"/>
            <a:ext cx="40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125CA2-AE02-487E-A81F-D0AC312A1A65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7387470" y="1670479"/>
            <a:ext cx="1067226" cy="2942849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B4F64A-6BE8-41E9-9598-9A44782185BF}"/>
              </a:ext>
            </a:extLst>
          </p:cNvPr>
          <p:cNvCxnSpPr>
            <a:cxnSpLocks/>
          </p:cNvCxnSpPr>
          <p:nvPr/>
        </p:nvCxnSpPr>
        <p:spPr>
          <a:xfrm>
            <a:off x="7326226" y="946439"/>
            <a:ext cx="1269134" cy="893317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B33925-CCE9-49CD-BE8F-9377AB29FACD}"/>
              </a:ext>
            </a:extLst>
          </p:cNvPr>
          <p:cNvSpPr/>
          <p:nvPr/>
        </p:nvSpPr>
        <p:spPr>
          <a:xfrm>
            <a:off x="12665932" y="4260985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7B033-F990-449E-9A11-B950505B4CF1}"/>
              </a:ext>
            </a:extLst>
          </p:cNvPr>
          <p:cNvSpPr/>
          <p:nvPr/>
        </p:nvSpPr>
        <p:spPr>
          <a:xfrm>
            <a:off x="12665933" y="15313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9B3D7A-2C6A-496A-9502-AB25D02E7B47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9900961" y="2329544"/>
            <a:ext cx="2764972" cy="7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55240E-F008-4395-8EAA-7D1707E36076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9909126" y="5059137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B054615-F599-4C09-B0A2-3B5EA5BFEB95}"/>
              </a:ext>
            </a:extLst>
          </p:cNvPr>
          <p:cNvSpPr/>
          <p:nvPr/>
        </p:nvSpPr>
        <p:spPr>
          <a:xfrm>
            <a:off x="10557592" y="4660367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CAC47A9-8DC1-4375-BB95-1B7B73262FA1}"/>
              </a:ext>
            </a:extLst>
          </p:cNvPr>
          <p:cNvSpPr/>
          <p:nvPr/>
        </p:nvSpPr>
        <p:spPr>
          <a:xfrm>
            <a:off x="10560149" y="1864726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4A9B8A-31C7-4EE9-A9D2-C52E6A31741C}"/>
              </a:ext>
            </a:extLst>
          </p:cNvPr>
          <p:cNvCxnSpPr>
            <a:cxnSpLocks/>
          </p:cNvCxnSpPr>
          <p:nvPr/>
        </p:nvCxnSpPr>
        <p:spPr>
          <a:xfrm flipH="1">
            <a:off x="9358139" y="2084859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80595B-7E75-4FDB-9C75-156AA5B6B162}"/>
              </a:ext>
            </a:extLst>
          </p:cNvPr>
          <p:cNvCxnSpPr>
            <a:cxnSpLocks/>
          </p:cNvCxnSpPr>
          <p:nvPr/>
        </p:nvCxnSpPr>
        <p:spPr>
          <a:xfrm flipH="1">
            <a:off x="9355012" y="4880500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099997E-48C2-4135-A85A-426492A3844B}"/>
              </a:ext>
            </a:extLst>
          </p:cNvPr>
          <p:cNvSpPr/>
          <p:nvPr/>
        </p:nvSpPr>
        <p:spPr>
          <a:xfrm>
            <a:off x="-1477308" y="-461959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3F4766-4FA6-45E1-ACA3-C7F5B31799B7}"/>
              </a:ext>
            </a:extLst>
          </p:cNvPr>
          <p:cNvCxnSpPr>
            <a:stCxn id="36" idx="3"/>
          </p:cNvCxnSpPr>
          <p:nvPr/>
        </p:nvCxnSpPr>
        <p:spPr>
          <a:xfrm>
            <a:off x="-592949" y="343584"/>
            <a:ext cx="2748643" cy="15211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811E315-EADC-460F-ABDB-35E769742660}"/>
              </a:ext>
            </a:extLst>
          </p:cNvPr>
          <p:cNvSpPr/>
          <p:nvPr/>
        </p:nvSpPr>
        <p:spPr>
          <a:xfrm rot="1483886">
            <a:off x="-400233" y="563973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B27E18-8F7D-4C4D-9E37-24CCC8FAE97A}"/>
              </a:ext>
            </a:extLst>
          </p:cNvPr>
          <p:cNvCxnSpPr>
            <a:cxnSpLocks/>
          </p:cNvCxnSpPr>
          <p:nvPr/>
        </p:nvCxnSpPr>
        <p:spPr>
          <a:xfrm flipH="1" flipV="1">
            <a:off x="1490477" y="1223773"/>
            <a:ext cx="1108228" cy="640953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3C31D5-C765-4656-90EF-DDB83C408B2A}"/>
              </a:ext>
            </a:extLst>
          </p:cNvPr>
          <p:cNvCxnSpPr/>
          <p:nvPr/>
        </p:nvCxnSpPr>
        <p:spPr>
          <a:xfrm>
            <a:off x="-355985" y="1717589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AA04935-4747-42E9-975A-B08FE8BC454F}"/>
              </a:ext>
            </a:extLst>
          </p:cNvPr>
          <p:cNvSpPr txBox="1"/>
          <p:nvPr/>
        </p:nvSpPr>
        <p:spPr>
          <a:xfrm rot="19898233">
            <a:off x="2975066" y="643747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5CF463-4E64-4BA1-9116-F511CB269E6E}"/>
              </a:ext>
            </a:extLst>
          </p:cNvPr>
          <p:cNvCxnSpPr/>
          <p:nvPr/>
        </p:nvCxnSpPr>
        <p:spPr>
          <a:xfrm flipH="1" flipV="1">
            <a:off x="417846" y="164727"/>
            <a:ext cx="805473" cy="5079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0E89ED1-1D54-4262-A934-A436C937D548}"/>
              </a:ext>
            </a:extLst>
          </p:cNvPr>
          <p:cNvSpPr txBox="1"/>
          <p:nvPr/>
        </p:nvSpPr>
        <p:spPr>
          <a:xfrm rot="1905978">
            <a:off x="554894" y="-56929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399D224-B733-4A8C-8E7E-5C47182D6816}"/>
              </a:ext>
            </a:extLst>
          </p:cNvPr>
          <p:cNvCxnSpPr>
            <a:cxnSpLocks/>
          </p:cNvCxnSpPr>
          <p:nvPr/>
        </p:nvCxnSpPr>
        <p:spPr>
          <a:xfrm flipV="1">
            <a:off x="3355844" y="745098"/>
            <a:ext cx="987152" cy="5629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D7E541A-A497-4668-AE7D-09FB50E15B0B}"/>
              </a:ext>
            </a:extLst>
          </p:cNvPr>
          <p:cNvSpPr txBox="1"/>
          <p:nvPr/>
        </p:nvSpPr>
        <p:spPr>
          <a:xfrm>
            <a:off x="-348582" y="1106899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7961F6B-B36E-4156-8B0F-95AF043136E2}"/>
              </a:ext>
            </a:extLst>
          </p:cNvPr>
          <p:cNvCxnSpPr/>
          <p:nvPr/>
        </p:nvCxnSpPr>
        <p:spPr>
          <a:xfrm>
            <a:off x="10941292" y="1673284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D190BC7-9E98-46CA-952C-F06E28E8205F}"/>
              </a:ext>
            </a:extLst>
          </p:cNvPr>
          <p:cNvSpPr txBox="1"/>
          <p:nvPr/>
        </p:nvSpPr>
        <p:spPr>
          <a:xfrm>
            <a:off x="10873427" y="1110078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9D8FF5F-D968-402F-B11C-3937EA4D4F68}"/>
              </a:ext>
            </a:extLst>
          </p:cNvPr>
          <p:cNvSpPr/>
          <p:nvPr/>
        </p:nvSpPr>
        <p:spPr>
          <a:xfrm>
            <a:off x="216385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VRF2.inet.0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D0F8E6-5F04-4B47-8868-0A25407E4FDA}"/>
              </a:ext>
            </a:extLst>
          </p:cNvPr>
          <p:cNvSpPr/>
          <p:nvPr/>
        </p:nvSpPr>
        <p:spPr>
          <a:xfrm>
            <a:off x="-1477308" y="632848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493CBF0-13F1-4435-9A6A-AAFEF30895DD}"/>
              </a:ext>
            </a:extLst>
          </p:cNvPr>
          <p:cNvCxnSpPr>
            <a:cxnSpLocks/>
            <a:stCxn id="57" idx="3"/>
            <a:endCxn id="56" idx="1"/>
          </p:cNvCxnSpPr>
          <p:nvPr/>
        </p:nvCxnSpPr>
        <p:spPr>
          <a:xfrm>
            <a:off x="-592949" y="7134024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4A28B77-18AF-4849-AA07-21599107D86B}"/>
              </a:ext>
            </a:extLst>
          </p:cNvPr>
          <p:cNvSpPr/>
          <p:nvPr/>
        </p:nvSpPr>
        <p:spPr>
          <a:xfrm>
            <a:off x="-530354" y="6759563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2A3D55-C159-4244-9B89-8830BD4B4024}"/>
              </a:ext>
            </a:extLst>
          </p:cNvPr>
          <p:cNvCxnSpPr>
            <a:cxnSpLocks/>
          </p:cNvCxnSpPr>
          <p:nvPr/>
        </p:nvCxnSpPr>
        <p:spPr>
          <a:xfrm flipH="1">
            <a:off x="1490477" y="6950126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9815EB8-8EE0-4B4A-9F11-F188C6560E85}"/>
              </a:ext>
            </a:extLst>
          </p:cNvPr>
          <p:cNvSpPr/>
          <p:nvPr/>
        </p:nvSpPr>
        <p:spPr>
          <a:xfrm>
            <a:off x="804890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VRF2.inet.0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59F59F-9978-429F-A811-47C9318D3395}"/>
              </a:ext>
            </a:extLst>
          </p:cNvPr>
          <p:cNvSpPr/>
          <p:nvPr/>
        </p:nvSpPr>
        <p:spPr>
          <a:xfrm>
            <a:off x="12665932" y="633587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Nova" panose="020B0504020202020204" pitchFamily="34" charset="0"/>
              </a:rPr>
              <a:t>R7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9E7E04-C021-42A5-82ED-A55D1E539F55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9909126" y="7134025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C3A32AB-0AB5-4738-B8DC-F534317A43D7}"/>
              </a:ext>
            </a:extLst>
          </p:cNvPr>
          <p:cNvSpPr/>
          <p:nvPr/>
        </p:nvSpPr>
        <p:spPr>
          <a:xfrm>
            <a:off x="10557592" y="673525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0F7254-6364-4CEC-A69E-9F55920CF130}"/>
              </a:ext>
            </a:extLst>
          </p:cNvPr>
          <p:cNvCxnSpPr>
            <a:cxnSpLocks/>
          </p:cNvCxnSpPr>
          <p:nvPr/>
        </p:nvCxnSpPr>
        <p:spPr>
          <a:xfrm flipH="1">
            <a:off x="9355012" y="695538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5427530-D5CB-40BD-8440-FA38CD262488}"/>
              </a:ext>
            </a:extLst>
          </p:cNvPr>
          <p:cNvSpPr txBox="1"/>
          <p:nvPr/>
        </p:nvSpPr>
        <p:spPr>
          <a:xfrm flipH="1">
            <a:off x="11125229" y="7498261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01FDD1-B02A-4300-B1E4-E783AE4B44A5}"/>
              </a:ext>
            </a:extLst>
          </p:cNvPr>
          <p:cNvSpPr txBox="1"/>
          <p:nvPr/>
        </p:nvSpPr>
        <p:spPr>
          <a:xfrm flipH="1">
            <a:off x="114841" y="7498261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6531B4-256E-4CE1-8118-8DDC8E39E52B}"/>
              </a:ext>
            </a:extLst>
          </p:cNvPr>
          <p:cNvSpPr txBox="1"/>
          <p:nvPr/>
        </p:nvSpPr>
        <p:spPr>
          <a:xfrm flipH="1">
            <a:off x="5764427" y="7498261"/>
            <a:ext cx="82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IBGP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664269D-07E8-440B-9D57-97F7C187D661}"/>
              </a:ext>
            </a:extLst>
          </p:cNvPr>
          <p:cNvSpPr/>
          <p:nvPr/>
        </p:nvSpPr>
        <p:spPr>
          <a:xfrm>
            <a:off x="4788428" y="1839756"/>
            <a:ext cx="2507758" cy="372686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B05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BEC17-E5AB-43E0-A6B1-5BF0765BA2E5}"/>
              </a:ext>
            </a:extLst>
          </p:cNvPr>
          <p:cNvSpPr txBox="1"/>
          <p:nvPr/>
        </p:nvSpPr>
        <p:spPr>
          <a:xfrm>
            <a:off x="4908000" y="1501202"/>
            <a:ext cx="2479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rial Nova" panose="020B0504020202020204" pitchFamily="34" charset="0"/>
              </a:rPr>
              <a:t>family l3vpn RD2 RT2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E7B135-CDA4-4C28-82FA-3ED26E0C56AA}"/>
              </a:ext>
            </a:extLst>
          </p:cNvPr>
          <p:cNvCxnSpPr>
            <a:cxnSpLocks/>
          </p:cNvCxnSpPr>
          <p:nvPr/>
        </p:nvCxnSpPr>
        <p:spPr>
          <a:xfrm flipH="1">
            <a:off x="3896828" y="2231208"/>
            <a:ext cx="877036" cy="4612722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043493D-B490-4701-B2ED-BA8BAE2C8619}"/>
              </a:ext>
            </a:extLst>
          </p:cNvPr>
          <p:cNvCxnSpPr>
            <a:cxnSpLocks/>
          </p:cNvCxnSpPr>
          <p:nvPr/>
        </p:nvCxnSpPr>
        <p:spPr>
          <a:xfrm>
            <a:off x="7289055" y="2237848"/>
            <a:ext cx="941208" cy="4739066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8174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F9A67C-CEFE-4D36-BA70-06425844F0A7}"/>
              </a:ext>
            </a:extLst>
          </p:cNvPr>
          <p:cNvSpPr/>
          <p:nvPr/>
        </p:nvSpPr>
        <p:spPr>
          <a:xfrm>
            <a:off x="1595082" y="636814"/>
            <a:ext cx="3020786" cy="82920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B2960C-5AE3-4DE7-AAA3-1048C55C299D}"/>
              </a:ext>
            </a:extLst>
          </p:cNvPr>
          <p:cNvSpPr/>
          <p:nvPr/>
        </p:nvSpPr>
        <p:spPr>
          <a:xfrm>
            <a:off x="215569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AF061-2A20-4709-8CD1-F28D59A897BB}"/>
              </a:ext>
            </a:extLst>
          </p:cNvPr>
          <p:cNvSpPr/>
          <p:nvPr/>
        </p:nvSpPr>
        <p:spPr>
          <a:xfrm>
            <a:off x="216385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VRF1.inet.0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3273F-D389-4950-9685-BE3A745AB81B}"/>
              </a:ext>
            </a:extLst>
          </p:cNvPr>
          <p:cNvSpPr/>
          <p:nvPr/>
        </p:nvSpPr>
        <p:spPr>
          <a:xfrm>
            <a:off x="-1477308" y="42535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C890E-773C-4E47-823E-A5E5C78BAF71}"/>
              </a:ext>
            </a:extLst>
          </p:cNvPr>
          <p:cNvSpPr/>
          <p:nvPr/>
        </p:nvSpPr>
        <p:spPr>
          <a:xfrm>
            <a:off x="-1477307" y="152400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6D25B-DB7E-4991-B981-47122894E803}"/>
              </a:ext>
            </a:extLst>
          </p:cNvPr>
          <p:cNvSpPr/>
          <p:nvPr/>
        </p:nvSpPr>
        <p:spPr>
          <a:xfrm>
            <a:off x="7473370" y="636814"/>
            <a:ext cx="3020786" cy="8292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FC3E6-8AD6-42F7-99E7-23174219B128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-592948" y="2329544"/>
            <a:ext cx="27486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4C7F79-6BFE-4FE1-B156-D20BED69DB4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-592949" y="5059136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013861-9777-4362-866A-FF135DA970ED}"/>
              </a:ext>
            </a:extLst>
          </p:cNvPr>
          <p:cNvSpPr/>
          <p:nvPr/>
        </p:nvSpPr>
        <p:spPr>
          <a:xfrm>
            <a:off x="4782498" y="537181"/>
            <a:ext cx="2516376" cy="37269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CBE345-F7BA-485D-B3CC-13975C53B4EE}"/>
              </a:ext>
            </a:extLst>
          </p:cNvPr>
          <p:cNvSpPr/>
          <p:nvPr/>
        </p:nvSpPr>
        <p:spPr>
          <a:xfrm>
            <a:off x="-530354" y="468467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60E442-9E73-4961-843C-C9106C41C01E}"/>
              </a:ext>
            </a:extLst>
          </p:cNvPr>
          <p:cNvSpPr/>
          <p:nvPr/>
        </p:nvSpPr>
        <p:spPr>
          <a:xfrm>
            <a:off x="-527797" y="1889034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C3F28-9CE2-46D7-A751-54D7DD6A57CF}"/>
              </a:ext>
            </a:extLst>
          </p:cNvPr>
          <p:cNvSpPr txBox="1"/>
          <p:nvPr/>
        </p:nvSpPr>
        <p:spPr>
          <a:xfrm>
            <a:off x="5241140" y="114628"/>
            <a:ext cx="1187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99"/>
                </a:solidFill>
                <a:latin typeface="Arial Nova" panose="020B0504020202020204" pitchFamily="34" charset="0"/>
              </a:rPr>
              <a:t>family </a:t>
            </a:r>
            <a:r>
              <a:rPr lang="en-US" sz="1600" b="1" dirty="0" err="1">
                <a:solidFill>
                  <a:srgbClr val="000099"/>
                </a:solidFill>
                <a:latin typeface="Arial Nova" panose="020B0504020202020204" pitchFamily="34" charset="0"/>
              </a:rPr>
              <a:t>inet</a:t>
            </a:r>
            <a:endParaRPr lang="en-US" sz="1600" b="1" dirty="0">
              <a:solidFill>
                <a:srgbClr val="000099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C58907-169D-4A7D-A1B2-0ACD3B92865B}"/>
              </a:ext>
            </a:extLst>
          </p:cNvPr>
          <p:cNvCxnSpPr>
            <a:cxnSpLocks/>
          </p:cNvCxnSpPr>
          <p:nvPr/>
        </p:nvCxnSpPr>
        <p:spPr>
          <a:xfrm flipH="1">
            <a:off x="3551343" y="927926"/>
            <a:ext cx="1158460" cy="961108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C9686C-1792-41F7-9FED-C36E33A6482D}"/>
              </a:ext>
            </a:extLst>
          </p:cNvPr>
          <p:cNvCxnSpPr>
            <a:cxnSpLocks/>
          </p:cNvCxnSpPr>
          <p:nvPr/>
        </p:nvCxnSpPr>
        <p:spPr>
          <a:xfrm flipH="1">
            <a:off x="1493604" y="2079597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A066B-3B13-4791-BD31-BB513C4560A4}"/>
              </a:ext>
            </a:extLst>
          </p:cNvPr>
          <p:cNvCxnSpPr>
            <a:cxnSpLocks/>
          </p:cNvCxnSpPr>
          <p:nvPr/>
        </p:nvCxnSpPr>
        <p:spPr>
          <a:xfrm flipH="1">
            <a:off x="1490477" y="487523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90F8F1-C5E7-4772-9460-8887653BF692}"/>
              </a:ext>
            </a:extLst>
          </p:cNvPr>
          <p:cNvSpPr/>
          <p:nvPr/>
        </p:nvSpPr>
        <p:spPr>
          <a:xfrm>
            <a:off x="804074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B30828-C791-401A-9E3E-1C5C97D16A97}"/>
              </a:ext>
            </a:extLst>
          </p:cNvPr>
          <p:cNvSpPr/>
          <p:nvPr/>
        </p:nvSpPr>
        <p:spPr>
          <a:xfrm>
            <a:off x="804890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VRF1.inet.0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FA200A-F787-4803-8577-8CBC7F98CBB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015911" y="2329544"/>
            <a:ext cx="40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B4F64A-6BE8-41E9-9598-9A44782185BF}"/>
              </a:ext>
            </a:extLst>
          </p:cNvPr>
          <p:cNvCxnSpPr>
            <a:cxnSpLocks/>
          </p:cNvCxnSpPr>
          <p:nvPr/>
        </p:nvCxnSpPr>
        <p:spPr>
          <a:xfrm>
            <a:off x="7326226" y="946439"/>
            <a:ext cx="1269134" cy="893317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B33925-CCE9-49CD-BE8F-9377AB29FACD}"/>
              </a:ext>
            </a:extLst>
          </p:cNvPr>
          <p:cNvSpPr/>
          <p:nvPr/>
        </p:nvSpPr>
        <p:spPr>
          <a:xfrm>
            <a:off x="12665932" y="4260985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7B033-F990-449E-9A11-B950505B4CF1}"/>
              </a:ext>
            </a:extLst>
          </p:cNvPr>
          <p:cNvSpPr/>
          <p:nvPr/>
        </p:nvSpPr>
        <p:spPr>
          <a:xfrm>
            <a:off x="12665933" y="15313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9B3D7A-2C6A-496A-9502-AB25D02E7B47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9900961" y="2329544"/>
            <a:ext cx="2764972" cy="7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55240E-F008-4395-8EAA-7D1707E36076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9909126" y="5059137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B054615-F599-4C09-B0A2-3B5EA5BFEB95}"/>
              </a:ext>
            </a:extLst>
          </p:cNvPr>
          <p:cNvSpPr/>
          <p:nvPr/>
        </p:nvSpPr>
        <p:spPr>
          <a:xfrm>
            <a:off x="10557592" y="4660367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CAC47A9-8DC1-4375-BB95-1B7B73262FA1}"/>
              </a:ext>
            </a:extLst>
          </p:cNvPr>
          <p:cNvSpPr/>
          <p:nvPr/>
        </p:nvSpPr>
        <p:spPr>
          <a:xfrm>
            <a:off x="10560149" y="1864726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4A9B8A-31C7-4EE9-A9D2-C52E6A31741C}"/>
              </a:ext>
            </a:extLst>
          </p:cNvPr>
          <p:cNvCxnSpPr>
            <a:cxnSpLocks/>
          </p:cNvCxnSpPr>
          <p:nvPr/>
        </p:nvCxnSpPr>
        <p:spPr>
          <a:xfrm flipH="1">
            <a:off x="9358139" y="2084859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80595B-7E75-4FDB-9C75-156AA5B6B162}"/>
              </a:ext>
            </a:extLst>
          </p:cNvPr>
          <p:cNvCxnSpPr>
            <a:cxnSpLocks/>
          </p:cNvCxnSpPr>
          <p:nvPr/>
        </p:nvCxnSpPr>
        <p:spPr>
          <a:xfrm flipH="1">
            <a:off x="9355012" y="4880500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099997E-48C2-4135-A85A-426492A3844B}"/>
              </a:ext>
            </a:extLst>
          </p:cNvPr>
          <p:cNvSpPr/>
          <p:nvPr/>
        </p:nvSpPr>
        <p:spPr>
          <a:xfrm>
            <a:off x="-1477308" y="-461959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3F4766-4FA6-45E1-ACA3-C7F5B31799B7}"/>
              </a:ext>
            </a:extLst>
          </p:cNvPr>
          <p:cNvCxnSpPr>
            <a:stCxn id="36" idx="3"/>
          </p:cNvCxnSpPr>
          <p:nvPr/>
        </p:nvCxnSpPr>
        <p:spPr>
          <a:xfrm>
            <a:off x="-592949" y="343584"/>
            <a:ext cx="2748643" cy="15211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811E315-EADC-460F-ABDB-35E769742660}"/>
              </a:ext>
            </a:extLst>
          </p:cNvPr>
          <p:cNvSpPr/>
          <p:nvPr/>
        </p:nvSpPr>
        <p:spPr>
          <a:xfrm rot="1483886">
            <a:off x="-400233" y="563973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B27E18-8F7D-4C4D-9E37-24CCC8FAE97A}"/>
              </a:ext>
            </a:extLst>
          </p:cNvPr>
          <p:cNvCxnSpPr>
            <a:cxnSpLocks/>
          </p:cNvCxnSpPr>
          <p:nvPr/>
        </p:nvCxnSpPr>
        <p:spPr>
          <a:xfrm flipH="1" flipV="1">
            <a:off x="1490477" y="1223773"/>
            <a:ext cx="1108228" cy="640953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3C31D5-C765-4656-90EF-DDB83C408B2A}"/>
              </a:ext>
            </a:extLst>
          </p:cNvPr>
          <p:cNvCxnSpPr/>
          <p:nvPr/>
        </p:nvCxnSpPr>
        <p:spPr>
          <a:xfrm>
            <a:off x="-355985" y="1717589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AA04935-4747-42E9-975A-B08FE8BC454F}"/>
              </a:ext>
            </a:extLst>
          </p:cNvPr>
          <p:cNvSpPr txBox="1"/>
          <p:nvPr/>
        </p:nvSpPr>
        <p:spPr>
          <a:xfrm rot="19898233">
            <a:off x="2975066" y="643747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5CF463-4E64-4BA1-9116-F511CB269E6E}"/>
              </a:ext>
            </a:extLst>
          </p:cNvPr>
          <p:cNvCxnSpPr/>
          <p:nvPr/>
        </p:nvCxnSpPr>
        <p:spPr>
          <a:xfrm flipH="1" flipV="1">
            <a:off x="417846" y="164727"/>
            <a:ext cx="805473" cy="5079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0E89ED1-1D54-4262-A934-A436C937D548}"/>
              </a:ext>
            </a:extLst>
          </p:cNvPr>
          <p:cNvSpPr txBox="1"/>
          <p:nvPr/>
        </p:nvSpPr>
        <p:spPr>
          <a:xfrm rot="1905978">
            <a:off x="554894" y="-56929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399D224-B733-4A8C-8E7E-5C47182D6816}"/>
              </a:ext>
            </a:extLst>
          </p:cNvPr>
          <p:cNvCxnSpPr>
            <a:cxnSpLocks/>
          </p:cNvCxnSpPr>
          <p:nvPr/>
        </p:nvCxnSpPr>
        <p:spPr>
          <a:xfrm flipV="1">
            <a:off x="3355844" y="745098"/>
            <a:ext cx="987152" cy="5629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D7E541A-A497-4668-AE7D-09FB50E15B0B}"/>
              </a:ext>
            </a:extLst>
          </p:cNvPr>
          <p:cNvSpPr txBox="1"/>
          <p:nvPr/>
        </p:nvSpPr>
        <p:spPr>
          <a:xfrm>
            <a:off x="-348582" y="1106899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7961F6B-B36E-4156-8B0F-95AF043136E2}"/>
              </a:ext>
            </a:extLst>
          </p:cNvPr>
          <p:cNvCxnSpPr/>
          <p:nvPr/>
        </p:nvCxnSpPr>
        <p:spPr>
          <a:xfrm>
            <a:off x="10941292" y="1673284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D190BC7-9E98-46CA-952C-F06E28E8205F}"/>
              </a:ext>
            </a:extLst>
          </p:cNvPr>
          <p:cNvSpPr txBox="1"/>
          <p:nvPr/>
        </p:nvSpPr>
        <p:spPr>
          <a:xfrm>
            <a:off x="10873427" y="1110078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9D8FF5F-D968-402F-B11C-3937EA4D4F68}"/>
              </a:ext>
            </a:extLst>
          </p:cNvPr>
          <p:cNvSpPr/>
          <p:nvPr/>
        </p:nvSpPr>
        <p:spPr>
          <a:xfrm>
            <a:off x="216385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VRF2.inet.0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D0F8E6-5F04-4B47-8868-0A25407E4FDA}"/>
              </a:ext>
            </a:extLst>
          </p:cNvPr>
          <p:cNvSpPr/>
          <p:nvPr/>
        </p:nvSpPr>
        <p:spPr>
          <a:xfrm>
            <a:off x="-1477308" y="632848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493CBF0-13F1-4435-9A6A-AAFEF30895DD}"/>
              </a:ext>
            </a:extLst>
          </p:cNvPr>
          <p:cNvCxnSpPr>
            <a:cxnSpLocks/>
            <a:stCxn id="57" idx="3"/>
            <a:endCxn id="56" idx="1"/>
          </p:cNvCxnSpPr>
          <p:nvPr/>
        </p:nvCxnSpPr>
        <p:spPr>
          <a:xfrm>
            <a:off x="-592949" y="7134024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4A28B77-18AF-4849-AA07-21599107D86B}"/>
              </a:ext>
            </a:extLst>
          </p:cNvPr>
          <p:cNvSpPr/>
          <p:nvPr/>
        </p:nvSpPr>
        <p:spPr>
          <a:xfrm>
            <a:off x="-530354" y="6759563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2A3D55-C159-4244-9B89-8830BD4B4024}"/>
              </a:ext>
            </a:extLst>
          </p:cNvPr>
          <p:cNvCxnSpPr>
            <a:cxnSpLocks/>
          </p:cNvCxnSpPr>
          <p:nvPr/>
        </p:nvCxnSpPr>
        <p:spPr>
          <a:xfrm flipH="1">
            <a:off x="1490477" y="6950126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9815EB8-8EE0-4B4A-9F11-F188C6560E85}"/>
              </a:ext>
            </a:extLst>
          </p:cNvPr>
          <p:cNvSpPr/>
          <p:nvPr/>
        </p:nvSpPr>
        <p:spPr>
          <a:xfrm>
            <a:off x="804890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VRF2.inet.0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59F59F-9978-429F-A811-47C9318D3395}"/>
              </a:ext>
            </a:extLst>
          </p:cNvPr>
          <p:cNvSpPr/>
          <p:nvPr/>
        </p:nvSpPr>
        <p:spPr>
          <a:xfrm>
            <a:off x="12665932" y="633587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R7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9E7E04-C021-42A5-82ED-A55D1E539F55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9909126" y="7134025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C3A32AB-0AB5-4738-B8DC-F534317A43D7}"/>
              </a:ext>
            </a:extLst>
          </p:cNvPr>
          <p:cNvSpPr/>
          <p:nvPr/>
        </p:nvSpPr>
        <p:spPr>
          <a:xfrm>
            <a:off x="10557592" y="673525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0F7254-6364-4CEC-A69E-9F55920CF130}"/>
              </a:ext>
            </a:extLst>
          </p:cNvPr>
          <p:cNvCxnSpPr>
            <a:cxnSpLocks/>
          </p:cNvCxnSpPr>
          <p:nvPr/>
        </p:nvCxnSpPr>
        <p:spPr>
          <a:xfrm flipH="1">
            <a:off x="9355012" y="695538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5427530-D5CB-40BD-8440-FA38CD262488}"/>
              </a:ext>
            </a:extLst>
          </p:cNvPr>
          <p:cNvSpPr txBox="1"/>
          <p:nvPr/>
        </p:nvSpPr>
        <p:spPr>
          <a:xfrm flipH="1">
            <a:off x="11126841" y="7498261"/>
            <a:ext cx="1286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01FDD1-B02A-4300-B1E4-E783AE4B44A5}"/>
              </a:ext>
            </a:extLst>
          </p:cNvPr>
          <p:cNvSpPr txBox="1"/>
          <p:nvPr/>
        </p:nvSpPr>
        <p:spPr>
          <a:xfrm flipH="1">
            <a:off x="116453" y="7498261"/>
            <a:ext cx="1286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6531B4-256E-4CE1-8118-8DDC8E39E52B}"/>
              </a:ext>
            </a:extLst>
          </p:cNvPr>
          <p:cNvSpPr txBox="1"/>
          <p:nvPr/>
        </p:nvSpPr>
        <p:spPr>
          <a:xfrm flipH="1">
            <a:off x="5766039" y="7498261"/>
            <a:ext cx="1286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ova" panose="020B0504020202020204" pitchFamily="34" charset="0"/>
              </a:rPr>
              <a:t>IBGP</a:t>
            </a:r>
          </a:p>
        </p:txBody>
      </p:sp>
    </p:spTree>
    <p:extLst>
      <p:ext uri="{BB962C8B-B14F-4D97-AF65-F5344CB8AC3E}">
        <p14:creationId xmlns:p14="http://schemas.microsoft.com/office/powerpoint/2010/main" val="177795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EC1A0-08CA-4DC4-8FB5-C1119B03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1" y="0"/>
            <a:ext cx="10816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3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F9A67C-CEFE-4D36-BA70-06425844F0A7}"/>
              </a:ext>
            </a:extLst>
          </p:cNvPr>
          <p:cNvSpPr/>
          <p:nvPr/>
        </p:nvSpPr>
        <p:spPr>
          <a:xfrm>
            <a:off x="1595082" y="636814"/>
            <a:ext cx="3020786" cy="82920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B2960C-5AE3-4DE7-AAA3-1048C55C299D}"/>
              </a:ext>
            </a:extLst>
          </p:cNvPr>
          <p:cNvSpPr/>
          <p:nvPr/>
        </p:nvSpPr>
        <p:spPr>
          <a:xfrm>
            <a:off x="215569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AF061-2A20-4709-8CD1-F28D59A897BB}"/>
              </a:ext>
            </a:extLst>
          </p:cNvPr>
          <p:cNvSpPr/>
          <p:nvPr/>
        </p:nvSpPr>
        <p:spPr>
          <a:xfrm>
            <a:off x="216385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VRF1.inet.0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RD1, RT1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3273F-D389-4950-9685-BE3A745AB81B}"/>
              </a:ext>
            </a:extLst>
          </p:cNvPr>
          <p:cNvSpPr/>
          <p:nvPr/>
        </p:nvSpPr>
        <p:spPr>
          <a:xfrm>
            <a:off x="-1477308" y="42535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7C890E-773C-4E47-823E-A5E5C78BAF71}"/>
              </a:ext>
            </a:extLst>
          </p:cNvPr>
          <p:cNvSpPr/>
          <p:nvPr/>
        </p:nvSpPr>
        <p:spPr>
          <a:xfrm>
            <a:off x="-1477307" y="152400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6D25B-DB7E-4991-B981-47122894E803}"/>
              </a:ext>
            </a:extLst>
          </p:cNvPr>
          <p:cNvSpPr/>
          <p:nvPr/>
        </p:nvSpPr>
        <p:spPr>
          <a:xfrm>
            <a:off x="7473370" y="636814"/>
            <a:ext cx="3020786" cy="82920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FC3E6-8AD6-42F7-99E7-23174219B128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-592948" y="2329544"/>
            <a:ext cx="274864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4C7F79-6BFE-4FE1-B156-D20BED69DB4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-592949" y="5059136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CBE345-F7BA-485D-B3CC-13975C53B4EE}"/>
              </a:ext>
            </a:extLst>
          </p:cNvPr>
          <p:cNvSpPr/>
          <p:nvPr/>
        </p:nvSpPr>
        <p:spPr>
          <a:xfrm>
            <a:off x="-530354" y="468467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60E442-9E73-4961-843C-C9106C41C01E}"/>
              </a:ext>
            </a:extLst>
          </p:cNvPr>
          <p:cNvSpPr/>
          <p:nvPr/>
        </p:nvSpPr>
        <p:spPr>
          <a:xfrm>
            <a:off x="-527797" y="1889034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35B6DF-0CC1-4A3F-8C36-4A5A7F7337E3}"/>
              </a:ext>
            </a:extLst>
          </p:cNvPr>
          <p:cNvSpPr/>
          <p:nvPr/>
        </p:nvSpPr>
        <p:spPr>
          <a:xfrm>
            <a:off x="4780393" y="1207478"/>
            <a:ext cx="2507758" cy="372686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DB03C-CD48-49FE-89A9-B9A4837333CD}"/>
              </a:ext>
            </a:extLst>
          </p:cNvPr>
          <p:cNvSpPr txBox="1"/>
          <p:nvPr/>
        </p:nvSpPr>
        <p:spPr>
          <a:xfrm>
            <a:off x="4899965" y="823414"/>
            <a:ext cx="2479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 Nova" panose="020B0504020202020204" pitchFamily="34" charset="0"/>
              </a:rPr>
              <a:t>family l3vpn 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3F54F7-F031-442A-8C33-DC8185C136EC}"/>
              </a:ext>
            </a:extLst>
          </p:cNvPr>
          <p:cNvCxnSpPr>
            <a:cxnSpLocks/>
          </p:cNvCxnSpPr>
          <p:nvPr/>
        </p:nvCxnSpPr>
        <p:spPr>
          <a:xfrm flipH="1">
            <a:off x="3461982" y="1579567"/>
            <a:ext cx="1237200" cy="2964894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C9686C-1792-41F7-9FED-C36E33A6482D}"/>
              </a:ext>
            </a:extLst>
          </p:cNvPr>
          <p:cNvCxnSpPr>
            <a:cxnSpLocks/>
          </p:cNvCxnSpPr>
          <p:nvPr/>
        </p:nvCxnSpPr>
        <p:spPr>
          <a:xfrm flipH="1">
            <a:off x="1493604" y="2079597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A066B-3B13-4791-BD31-BB513C4560A4}"/>
              </a:ext>
            </a:extLst>
          </p:cNvPr>
          <p:cNvCxnSpPr>
            <a:cxnSpLocks/>
          </p:cNvCxnSpPr>
          <p:nvPr/>
        </p:nvCxnSpPr>
        <p:spPr>
          <a:xfrm flipH="1">
            <a:off x="1490477" y="487523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9F79F6-7B68-405E-8AE2-BC9066E252E4}"/>
              </a:ext>
            </a:extLst>
          </p:cNvPr>
          <p:cNvSpPr txBox="1"/>
          <p:nvPr/>
        </p:nvSpPr>
        <p:spPr>
          <a:xfrm>
            <a:off x="8295034" y="3562980"/>
            <a:ext cx="2288383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Imported based on</a:t>
            </a:r>
          </a:p>
          <a:p>
            <a:r>
              <a:rPr lang="en-US" dirty="0"/>
              <a:t>matching route target.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90F8F1-C5E7-4772-9460-8887653BF692}"/>
              </a:ext>
            </a:extLst>
          </p:cNvPr>
          <p:cNvSpPr/>
          <p:nvPr/>
        </p:nvSpPr>
        <p:spPr>
          <a:xfrm>
            <a:off x="8040744" y="1602922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inet.0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B30828-C791-401A-9E3E-1C5C97D16A97}"/>
              </a:ext>
            </a:extLst>
          </p:cNvPr>
          <p:cNvSpPr/>
          <p:nvPr/>
        </p:nvSpPr>
        <p:spPr>
          <a:xfrm>
            <a:off x="8048909" y="4332515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VRF1.inet.0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RD1, RT1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FA200A-F787-4803-8577-8CBC7F98CBB4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015911" y="2329544"/>
            <a:ext cx="40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125CA2-AE02-487E-A81F-D0AC312A1A65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7387470" y="1670479"/>
            <a:ext cx="1067226" cy="2942849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B33925-CCE9-49CD-BE8F-9377AB29FACD}"/>
              </a:ext>
            </a:extLst>
          </p:cNvPr>
          <p:cNvSpPr/>
          <p:nvPr/>
        </p:nvSpPr>
        <p:spPr>
          <a:xfrm>
            <a:off x="12665932" y="4260985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E7B033-F990-449E-9A11-B950505B4CF1}"/>
              </a:ext>
            </a:extLst>
          </p:cNvPr>
          <p:cNvSpPr/>
          <p:nvPr/>
        </p:nvSpPr>
        <p:spPr>
          <a:xfrm>
            <a:off x="12665933" y="153139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R5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9B3D7A-2C6A-496A-9502-AB25D02E7B47}"/>
              </a:ext>
            </a:extLst>
          </p:cNvPr>
          <p:cNvCxnSpPr>
            <a:cxnSpLocks/>
            <a:stCxn id="23" idx="3"/>
            <a:endCxn id="29" idx="1"/>
          </p:cNvCxnSpPr>
          <p:nvPr/>
        </p:nvCxnSpPr>
        <p:spPr>
          <a:xfrm>
            <a:off x="9900961" y="2329544"/>
            <a:ext cx="2764972" cy="73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55240E-F008-4395-8EAA-7D1707E36076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9909126" y="5059137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B054615-F599-4C09-B0A2-3B5EA5BFEB95}"/>
              </a:ext>
            </a:extLst>
          </p:cNvPr>
          <p:cNvSpPr/>
          <p:nvPr/>
        </p:nvSpPr>
        <p:spPr>
          <a:xfrm>
            <a:off x="10557592" y="4660367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CAC47A9-8DC1-4375-BB95-1B7B73262FA1}"/>
              </a:ext>
            </a:extLst>
          </p:cNvPr>
          <p:cNvSpPr/>
          <p:nvPr/>
        </p:nvSpPr>
        <p:spPr>
          <a:xfrm>
            <a:off x="10560149" y="1864726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A4A9B8A-31C7-4EE9-A9D2-C52E6A31741C}"/>
              </a:ext>
            </a:extLst>
          </p:cNvPr>
          <p:cNvCxnSpPr>
            <a:cxnSpLocks/>
          </p:cNvCxnSpPr>
          <p:nvPr/>
        </p:nvCxnSpPr>
        <p:spPr>
          <a:xfrm flipH="1">
            <a:off x="9358139" y="2084859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80595B-7E75-4FDB-9C75-156AA5B6B162}"/>
              </a:ext>
            </a:extLst>
          </p:cNvPr>
          <p:cNvCxnSpPr>
            <a:cxnSpLocks/>
          </p:cNvCxnSpPr>
          <p:nvPr/>
        </p:nvCxnSpPr>
        <p:spPr>
          <a:xfrm flipH="1">
            <a:off x="9355012" y="4880500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099997E-48C2-4135-A85A-426492A3844B}"/>
              </a:ext>
            </a:extLst>
          </p:cNvPr>
          <p:cNvSpPr/>
          <p:nvPr/>
        </p:nvSpPr>
        <p:spPr>
          <a:xfrm>
            <a:off x="-1477308" y="-461959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3F4766-4FA6-45E1-ACA3-C7F5B31799B7}"/>
              </a:ext>
            </a:extLst>
          </p:cNvPr>
          <p:cNvCxnSpPr>
            <a:stCxn id="36" idx="3"/>
          </p:cNvCxnSpPr>
          <p:nvPr/>
        </p:nvCxnSpPr>
        <p:spPr>
          <a:xfrm>
            <a:off x="-592949" y="343584"/>
            <a:ext cx="2748643" cy="15211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811E315-EADC-460F-ABDB-35E769742660}"/>
              </a:ext>
            </a:extLst>
          </p:cNvPr>
          <p:cNvSpPr/>
          <p:nvPr/>
        </p:nvSpPr>
        <p:spPr>
          <a:xfrm rot="1483886">
            <a:off x="-400233" y="563973"/>
            <a:ext cx="1956249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B27E18-8F7D-4C4D-9E37-24CCC8FAE97A}"/>
              </a:ext>
            </a:extLst>
          </p:cNvPr>
          <p:cNvCxnSpPr>
            <a:cxnSpLocks/>
          </p:cNvCxnSpPr>
          <p:nvPr/>
        </p:nvCxnSpPr>
        <p:spPr>
          <a:xfrm flipH="1" flipV="1">
            <a:off x="1490477" y="1223773"/>
            <a:ext cx="1108228" cy="640953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93C31D5-C765-4656-90EF-DDB83C408B2A}"/>
              </a:ext>
            </a:extLst>
          </p:cNvPr>
          <p:cNvCxnSpPr/>
          <p:nvPr/>
        </p:nvCxnSpPr>
        <p:spPr>
          <a:xfrm>
            <a:off x="-355985" y="4489443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D7E541A-A497-4668-AE7D-09FB50E15B0B}"/>
              </a:ext>
            </a:extLst>
          </p:cNvPr>
          <p:cNvSpPr txBox="1"/>
          <p:nvPr/>
        </p:nvSpPr>
        <p:spPr>
          <a:xfrm>
            <a:off x="-348582" y="3878753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7961F6B-B36E-4156-8B0F-95AF043136E2}"/>
              </a:ext>
            </a:extLst>
          </p:cNvPr>
          <p:cNvCxnSpPr/>
          <p:nvPr/>
        </p:nvCxnSpPr>
        <p:spPr>
          <a:xfrm>
            <a:off x="11380063" y="4512725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D190BC7-9E98-46CA-952C-F06E28E8205F}"/>
              </a:ext>
            </a:extLst>
          </p:cNvPr>
          <p:cNvSpPr txBox="1"/>
          <p:nvPr/>
        </p:nvSpPr>
        <p:spPr>
          <a:xfrm>
            <a:off x="11312198" y="3949519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9D8FF5F-D968-402F-B11C-3937EA4D4F68}"/>
              </a:ext>
            </a:extLst>
          </p:cNvPr>
          <p:cNvSpPr/>
          <p:nvPr/>
        </p:nvSpPr>
        <p:spPr>
          <a:xfrm>
            <a:off x="216385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VRF2.inet.0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RD2, RT2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D0F8E6-5F04-4B47-8868-0A25407E4FDA}"/>
              </a:ext>
            </a:extLst>
          </p:cNvPr>
          <p:cNvSpPr/>
          <p:nvPr/>
        </p:nvSpPr>
        <p:spPr>
          <a:xfrm>
            <a:off x="-1477308" y="6328481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493CBF0-13F1-4435-9A6A-AAFEF30895DD}"/>
              </a:ext>
            </a:extLst>
          </p:cNvPr>
          <p:cNvCxnSpPr>
            <a:cxnSpLocks/>
            <a:stCxn id="57" idx="3"/>
            <a:endCxn id="56" idx="1"/>
          </p:cNvCxnSpPr>
          <p:nvPr/>
        </p:nvCxnSpPr>
        <p:spPr>
          <a:xfrm>
            <a:off x="-592949" y="7134024"/>
            <a:ext cx="275680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4A28B77-18AF-4849-AA07-21599107D86B}"/>
              </a:ext>
            </a:extLst>
          </p:cNvPr>
          <p:cNvSpPr/>
          <p:nvPr/>
        </p:nvSpPr>
        <p:spPr>
          <a:xfrm>
            <a:off x="-530354" y="6759563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2A3D55-C159-4244-9B89-8830BD4B4024}"/>
              </a:ext>
            </a:extLst>
          </p:cNvPr>
          <p:cNvCxnSpPr>
            <a:cxnSpLocks/>
          </p:cNvCxnSpPr>
          <p:nvPr/>
        </p:nvCxnSpPr>
        <p:spPr>
          <a:xfrm flipH="1">
            <a:off x="1490477" y="6950126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9815EB8-8EE0-4B4A-9F11-F188C6560E85}"/>
              </a:ext>
            </a:extLst>
          </p:cNvPr>
          <p:cNvSpPr/>
          <p:nvPr/>
        </p:nvSpPr>
        <p:spPr>
          <a:xfrm>
            <a:off x="8048909" y="6407403"/>
            <a:ext cx="1860217" cy="145324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VRF2.inet.0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RD2, RT2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59F59F-9978-429F-A811-47C9318D3395}"/>
              </a:ext>
            </a:extLst>
          </p:cNvPr>
          <p:cNvSpPr/>
          <p:nvPr/>
        </p:nvSpPr>
        <p:spPr>
          <a:xfrm>
            <a:off x="12665932" y="6335873"/>
            <a:ext cx="884359" cy="1611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Nova" panose="020B0504020202020204" pitchFamily="34" charset="0"/>
              </a:rPr>
              <a:t>R7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9E7E04-C021-42A5-82ED-A55D1E539F55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>
            <a:off x="9909126" y="7134025"/>
            <a:ext cx="2756806" cy="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C3A32AB-0AB5-4738-B8DC-F534317A43D7}"/>
              </a:ext>
            </a:extLst>
          </p:cNvPr>
          <p:cNvSpPr/>
          <p:nvPr/>
        </p:nvSpPr>
        <p:spPr>
          <a:xfrm>
            <a:off x="10557592" y="6735255"/>
            <a:ext cx="1958236" cy="217351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0099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B0F7254-6364-4CEC-A69E-9F55920CF130}"/>
              </a:ext>
            </a:extLst>
          </p:cNvPr>
          <p:cNvCxnSpPr>
            <a:cxnSpLocks/>
          </p:cNvCxnSpPr>
          <p:nvPr/>
        </p:nvCxnSpPr>
        <p:spPr>
          <a:xfrm flipH="1">
            <a:off x="9355012" y="6955388"/>
            <a:ext cx="1108228" cy="0"/>
          </a:xfrm>
          <a:prstGeom prst="straightConnector1">
            <a:avLst/>
          </a:prstGeom>
          <a:noFill/>
          <a:ln w="28575">
            <a:solidFill>
              <a:srgbClr val="000099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5427530-D5CB-40BD-8440-FA38CD262488}"/>
              </a:ext>
            </a:extLst>
          </p:cNvPr>
          <p:cNvSpPr txBox="1"/>
          <p:nvPr/>
        </p:nvSpPr>
        <p:spPr>
          <a:xfrm flipH="1">
            <a:off x="11125228" y="7498261"/>
            <a:ext cx="1066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01FDD1-B02A-4300-B1E4-E783AE4B44A5}"/>
              </a:ext>
            </a:extLst>
          </p:cNvPr>
          <p:cNvSpPr txBox="1"/>
          <p:nvPr/>
        </p:nvSpPr>
        <p:spPr>
          <a:xfrm flipH="1">
            <a:off x="114840" y="7498261"/>
            <a:ext cx="1066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ova" panose="020B0504020202020204" pitchFamily="34" charset="0"/>
              </a:rPr>
              <a:t>EBGP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6531B4-256E-4CE1-8118-8DDC8E39E52B}"/>
              </a:ext>
            </a:extLst>
          </p:cNvPr>
          <p:cNvSpPr txBox="1"/>
          <p:nvPr/>
        </p:nvSpPr>
        <p:spPr>
          <a:xfrm flipH="1">
            <a:off x="5764427" y="7498261"/>
            <a:ext cx="822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ova" panose="020B0504020202020204" pitchFamily="34" charset="0"/>
              </a:rPr>
              <a:t>IBGP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664269D-07E8-440B-9D57-97F7C187D661}"/>
              </a:ext>
            </a:extLst>
          </p:cNvPr>
          <p:cNvSpPr/>
          <p:nvPr/>
        </p:nvSpPr>
        <p:spPr>
          <a:xfrm>
            <a:off x="4788428" y="1839756"/>
            <a:ext cx="2507758" cy="372686"/>
          </a:xfrm>
          <a:custGeom>
            <a:avLst/>
            <a:gdLst>
              <a:gd name="connsiteX0" fmla="*/ 0 w 3559629"/>
              <a:gd name="connsiteY0" fmla="*/ 604316 h 653302"/>
              <a:gd name="connsiteX1" fmla="*/ 1698172 w 3559629"/>
              <a:gd name="connsiteY1" fmla="*/ 159 h 653302"/>
              <a:gd name="connsiteX2" fmla="*/ 3559629 w 3559629"/>
              <a:gd name="connsiteY2" fmla="*/ 653302 h 65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9629" h="653302">
                <a:moveTo>
                  <a:pt x="0" y="604316"/>
                </a:moveTo>
                <a:cubicBezTo>
                  <a:pt x="552450" y="298155"/>
                  <a:pt x="1104901" y="-8005"/>
                  <a:pt x="1698172" y="159"/>
                </a:cubicBezTo>
                <a:cubicBezTo>
                  <a:pt x="2291443" y="8323"/>
                  <a:pt x="2925536" y="330812"/>
                  <a:pt x="3559629" y="653302"/>
                </a:cubicBezTo>
              </a:path>
            </a:pathLst>
          </a:custGeom>
          <a:noFill/>
          <a:ln w="28575">
            <a:solidFill>
              <a:srgbClr val="00B05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1BEC17-E5AB-43E0-A6B1-5BF0765BA2E5}"/>
              </a:ext>
            </a:extLst>
          </p:cNvPr>
          <p:cNvSpPr txBox="1"/>
          <p:nvPr/>
        </p:nvSpPr>
        <p:spPr>
          <a:xfrm>
            <a:off x="4908000" y="1501202"/>
            <a:ext cx="2479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rial Nova" panose="020B0504020202020204" pitchFamily="34" charset="0"/>
              </a:rPr>
              <a:t>family l3vpn  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E7B135-CDA4-4C28-82FA-3ED26E0C56AA}"/>
              </a:ext>
            </a:extLst>
          </p:cNvPr>
          <p:cNvCxnSpPr>
            <a:cxnSpLocks/>
          </p:cNvCxnSpPr>
          <p:nvPr/>
        </p:nvCxnSpPr>
        <p:spPr>
          <a:xfrm flipH="1">
            <a:off x="3896828" y="2231208"/>
            <a:ext cx="877036" cy="4612722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043493D-B490-4701-B2ED-BA8BAE2C8619}"/>
              </a:ext>
            </a:extLst>
          </p:cNvPr>
          <p:cNvCxnSpPr>
            <a:cxnSpLocks/>
          </p:cNvCxnSpPr>
          <p:nvPr/>
        </p:nvCxnSpPr>
        <p:spPr>
          <a:xfrm>
            <a:off x="7289055" y="2237848"/>
            <a:ext cx="941208" cy="4739066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0B5E31B-F305-4278-B322-63588F8975A3}"/>
              </a:ext>
            </a:extLst>
          </p:cNvPr>
          <p:cNvCxnSpPr/>
          <p:nvPr/>
        </p:nvCxnSpPr>
        <p:spPr>
          <a:xfrm>
            <a:off x="-355985" y="6509876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73098A9-DE3A-46E1-B656-C8CA668F3325}"/>
              </a:ext>
            </a:extLst>
          </p:cNvPr>
          <p:cNvSpPr txBox="1"/>
          <p:nvPr/>
        </p:nvSpPr>
        <p:spPr>
          <a:xfrm>
            <a:off x="-348582" y="5899186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23EC15C-FF27-429F-9DB0-1FBB0D248D04}"/>
              </a:ext>
            </a:extLst>
          </p:cNvPr>
          <p:cNvCxnSpPr/>
          <p:nvPr/>
        </p:nvCxnSpPr>
        <p:spPr>
          <a:xfrm>
            <a:off x="5438202" y="2686543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EB76F97-B85D-4BB0-9179-8C673AEEFDB1}"/>
              </a:ext>
            </a:extLst>
          </p:cNvPr>
          <p:cNvSpPr txBox="1"/>
          <p:nvPr/>
        </p:nvSpPr>
        <p:spPr>
          <a:xfrm>
            <a:off x="5021092" y="2136880"/>
            <a:ext cx="1975926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RD2:10.1/16 RT2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4AC1EB9-6A05-4146-92E2-C2C09D763223}"/>
              </a:ext>
            </a:extLst>
          </p:cNvPr>
          <p:cNvCxnSpPr/>
          <p:nvPr/>
        </p:nvCxnSpPr>
        <p:spPr>
          <a:xfrm>
            <a:off x="5446722" y="751919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5D2EFAE-8D0A-425E-BFA8-F7355F75C190}"/>
              </a:ext>
            </a:extLst>
          </p:cNvPr>
          <p:cNvSpPr txBox="1"/>
          <p:nvPr/>
        </p:nvSpPr>
        <p:spPr>
          <a:xfrm>
            <a:off x="5029612" y="202256"/>
            <a:ext cx="1975926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RD1:10.1/16 RT1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D404064-A4D7-4D4D-8A24-360FD062C14A}"/>
              </a:ext>
            </a:extLst>
          </p:cNvPr>
          <p:cNvCxnSpPr/>
          <p:nvPr/>
        </p:nvCxnSpPr>
        <p:spPr>
          <a:xfrm>
            <a:off x="11380063" y="6492919"/>
            <a:ext cx="1208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23E1EA6-9C95-4DB3-A061-87D8C91BD453}"/>
              </a:ext>
            </a:extLst>
          </p:cNvPr>
          <p:cNvSpPr txBox="1"/>
          <p:nvPr/>
        </p:nvSpPr>
        <p:spPr>
          <a:xfrm>
            <a:off x="11312198" y="5929713"/>
            <a:ext cx="1013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10.1/16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C390C-D3EE-48C6-8A39-DC568483F2EF}"/>
              </a:ext>
            </a:extLst>
          </p:cNvPr>
          <p:cNvSpPr txBox="1"/>
          <p:nvPr/>
        </p:nvSpPr>
        <p:spPr>
          <a:xfrm>
            <a:off x="7099704" y="1055393"/>
            <a:ext cx="20129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SAME BGP SESSION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B7CE48-8F93-4F6B-B8DE-BA5DB980BB65}"/>
              </a:ext>
            </a:extLst>
          </p:cNvPr>
          <p:cNvSpPr txBox="1"/>
          <p:nvPr/>
        </p:nvSpPr>
        <p:spPr>
          <a:xfrm>
            <a:off x="8324198" y="5916354"/>
            <a:ext cx="2288383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Imported based on</a:t>
            </a:r>
          </a:p>
          <a:p>
            <a:r>
              <a:rPr lang="en-US" dirty="0"/>
              <a:t>matching route target.</a:t>
            </a:r>
          </a:p>
        </p:txBody>
      </p:sp>
    </p:spTree>
    <p:extLst>
      <p:ext uri="{BB962C8B-B14F-4D97-AF65-F5344CB8AC3E}">
        <p14:creationId xmlns:p14="http://schemas.microsoft.com/office/powerpoint/2010/main" val="82487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BFE9-E964-4938-B215-FCD846DB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C2E5-8704-4BBC-AD5F-7BD4F593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92C1E3-1FBE-4EDA-8B8C-F5FFD7A8E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1" y="0"/>
            <a:ext cx="10816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1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234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Nova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Yasmin Lara</dc:creator>
  <cp:lastModifiedBy>Yasmin Lara</cp:lastModifiedBy>
  <cp:revision>5</cp:revision>
  <dcterms:created xsi:type="dcterms:W3CDTF">2019-11-18T16:17:10Z</dcterms:created>
  <dcterms:modified xsi:type="dcterms:W3CDTF">2019-11-19T22:42:41Z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33b888-ae0d-4341-a75f-06e04137d755_Enabled">
    <vt:lpwstr>True</vt:lpwstr>
  </property>
  <property fmtid="{D5CDD505-2E9C-101B-9397-08002B2CF9AE}" pid="3" name="MSIP_Label_0633b888-ae0d-4341-a75f-06e04137d755_SiteId">
    <vt:lpwstr>bea78b3c-4cdb-4130-854a-1d193232e5f4</vt:lpwstr>
  </property>
  <property fmtid="{D5CDD505-2E9C-101B-9397-08002B2CF9AE}" pid="4" name="MSIP_Label_0633b888-ae0d-4341-a75f-06e04137d755_Owner">
    <vt:lpwstr>yasminl@juniper.net</vt:lpwstr>
  </property>
  <property fmtid="{D5CDD505-2E9C-101B-9397-08002B2CF9AE}" pid="5" name="MSIP_Label_0633b888-ae0d-4341-a75f-06e04137d755_SetDate">
    <vt:lpwstr>2019-11-18T16:17:23.0400452Z</vt:lpwstr>
  </property>
  <property fmtid="{D5CDD505-2E9C-101B-9397-08002B2CF9AE}" pid="6" name="MSIP_Label_0633b888-ae0d-4341-a75f-06e04137d755_Name">
    <vt:lpwstr>Juniper Business Use Only</vt:lpwstr>
  </property>
  <property fmtid="{D5CDD505-2E9C-101B-9397-08002B2CF9AE}" pid="7" name="MSIP_Label_0633b888-ae0d-4341-a75f-06e04137d755_Application">
    <vt:lpwstr>Microsoft Azure Information Protection</vt:lpwstr>
  </property>
  <property fmtid="{D5CDD505-2E9C-101B-9397-08002B2CF9AE}" pid="8" name="MSIP_Label_0633b888-ae0d-4341-a75f-06e04137d755_ActionId">
    <vt:lpwstr>210225fa-7222-4a6d-9aa7-babf7f4f8f7a</vt:lpwstr>
  </property>
  <property fmtid="{D5CDD505-2E9C-101B-9397-08002B2CF9AE}" pid="9" name="MSIP_Label_0633b888-ae0d-4341-a75f-06e04137d755_Extended_MSFT_Method">
    <vt:lpwstr>Automatic</vt:lpwstr>
  </property>
  <property fmtid="{D5CDD505-2E9C-101B-9397-08002B2CF9AE}" pid="10" name="Sensitivity">
    <vt:lpwstr>Juniper Business Use Only</vt:lpwstr>
  </property>
</Properties>
</file>